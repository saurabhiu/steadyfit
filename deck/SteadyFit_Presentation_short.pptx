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589"/>
    <p:restoredTop sz="94610"/>
  </p:normalViewPr>
  <p:slideViewPr>
    <p:cSldViewPr snapToGrid="0" snapToObjects="1">
      <p:cViewPr varScale="1">
        <p:scale>
          <a:sx n="156" d="100"/>
          <a:sy n="156" d="100"/>
        </p:scale>
        <p:origin x="176" y="5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5067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5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731520"/>
            <a:ext cx="3657600" cy="3657600"/>
          </a:xfrm>
          <a:prstGeom prst="ellipse">
            <a:avLst/>
          </a:prstGeom>
          <a:solidFill>
            <a:srgbClr val="C1694A">
              <a:alpha val="15000"/>
            </a:srgbClr>
          </a:solidFill>
          <a:ln w="12700">
            <a:solidFill>
              <a:srgbClr val="C1694A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C1694A"/>
                </a:solidFill>
              </a:rPr>
              <a:t>AI Engineering Capstone — 2026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EEF0F3"/>
                </a:solidFill>
              </a:rPr>
              <a:t>SteadyFit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548640" y="224028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8B93A3"/>
                </a:solidFill>
              </a:rPr>
              <a:t>A coaching team that plans around your real life —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8B93A3"/>
                </a:solidFill>
              </a:rPr>
              <a:t>not the life you planned to have.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246120"/>
            <a:ext cx="1691640" cy="301752"/>
          </a:xfrm>
          <a:prstGeom prst="roundRect">
            <a:avLst>
              <a:gd name="adj" fmla="val 36364"/>
            </a:avLst>
          </a:prstGeom>
          <a:solidFill>
            <a:srgbClr val="1B202B"/>
          </a:solidFill>
          <a:ln w="12700">
            <a:solidFill>
              <a:srgbClr val="C16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1691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1694A"/>
                </a:solidFill>
              </a:rPr>
              <a:t>LangGraph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68880" y="3246120"/>
            <a:ext cx="1691640" cy="301752"/>
          </a:xfrm>
          <a:prstGeom prst="roundRect">
            <a:avLst>
              <a:gd name="adj" fmla="val 36364"/>
            </a:avLst>
          </a:prstGeom>
          <a:solidFill>
            <a:srgbClr val="1B202B"/>
          </a:solidFill>
          <a:ln w="12700">
            <a:solidFill>
              <a:srgbClr val="C16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468880" y="3246120"/>
            <a:ext cx="1691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1694A"/>
                </a:solidFill>
              </a:rPr>
              <a:t>pgvector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0" y="3246120"/>
            <a:ext cx="1691640" cy="301752"/>
          </a:xfrm>
          <a:prstGeom prst="roundRect">
            <a:avLst>
              <a:gd name="adj" fmla="val 36364"/>
            </a:avLst>
          </a:prstGeom>
          <a:solidFill>
            <a:srgbClr val="1B202B"/>
          </a:solidFill>
          <a:ln w="12700">
            <a:solidFill>
              <a:srgbClr val="C16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389120" y="3246120"/>
            <a:ext cx="1691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1694A"/>
                </a:solidFill>
              </a:rPr>
              <a:t>FastAPI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3630168"/>
            <a:ext cx="1691640" cy="301752"/>
          </a:xfrm>
          <a:prstGeom prst="roundRect">
            <a:avLst>
              <a:gd name="adj" fmla="val 36364"/>
            </a:avLst>
          </a:prstGeom>
          <a:solidFill>
            <a:srgbClr val="1B202B"/>
          </a:solidFill>
          <a:ln w="12700">
            <a:solidFill>
              <a:srgbClr val="C16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3630168"/>
            <a:ext cx="1691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1694A"/>
                </a:solidFill>
              </a:rPr>
              <a:t>Next.js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468880" y="3630168"/>
            <a:ext cx="1691640" cy="301752"/>
          </a:xfrm>
          <a:prstGeom prst="roundRect">
            <a:avLst>
              <a:gd name="adj" fmla="val 36364"/>
            </a:avLst>
          </a:prstGeom>
          <a:solidFill>
            <a:srgbClr val="1B202B"/>
          </a:solidFill>
          <a:ln w="12700">
            <a:solidFill>
              <a:srgbClr val="C16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468880" y="3630168"/>
            <a:ext cx="1691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1694A"/>
                </a:solidFill>
              </a:rPr>
              <a:t>Neon Postgres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389120" y="3630168"/>
            <a:ext cx="1691640" cy="301752"/>
          </a:xfrm>
          <a:prstGeom prst="roundRect">
            <a:avLst>
              <a:gd name="adj" fmla="val 36364"/>
            </a:avLst>
          </a:prstGeom>
          <a:solidFill>
            <a:srgbClr val="1B202B"/>
          </a:solidFill>
          <a:ln w="12700">
            <a:solidFill>
              <a:srgbClr val="C16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389120" y="3630168"/>
            <a:ext cx="1691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1694A"/>
                </a:solidFill>
              </a:rPr>
              <a:t>LangSmith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466344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3A3"/>
                </a:solidFill>
              </a:rPr>
              <a:t>steadyfit.pro  ·  github.com/saurabhIU/SteadyFit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5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>
                <a:solidFill>
                  <a:srgbClr val="C1694A"/>
                </a:solidFill>
              </a:rPr>
              <a:t>THE PROBLEM</a:t>
            </a:r>
            <a:endParaRPr lang="en-US" sz="90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EEF0F3"/>
                </a:solidFill>
              </a:rPr>
              <a:t>Every fitness app treats a</a:t>
            </a:r>
            <a:endParaRPr lang="en-US" sz="3000"/>
          </a:p>
          <a:p>
            <a:pPr marL="0" indent="0" algn="l">
              <a:buNone/>
            </a:pPr>
            <a:r>
              <a:rPr lang="en-US" sz="3000" b="1">
                <a:solidFill>
                  <a:srgbClr val="EEF0F3"/>
                </a:solidFill>
              </a:rPr>
              <a:t>missed workout as the user's failure.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02920" y="2286000"/>
            <a:ext cx="2606040" cy="1691640"/>
          </a:xfrm>
          <a:prstGeom prst="roundRect">
            <a:avLst>
              <a:gd name="adj" fmla="val 6486"/>
            </a:avLst>
          </a:prstGeom>
          <a:solidFill>
            <a:srgbClr val="1B202B"/>
          </a:solidFill>
          <a:ln w="12700">
            <a:solidFill>
              <a:srgbClr val="262C3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23774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>
                <a:solidFill>
                  <a:srgbClr val="000000"/>
                </a:solidFill>
              </a:rPr>
              <a:t>📋</a:t>
            </a:r>
            <a:endParaRPr lang="en-US" sz="2200"/>
          </a:p>
        </p:txBody>
      </p:sp>
      <p:sp>
        <p:nvSpPr>
          <p:cNvPr id="6" name="Text 4"/>
          <p:cNvSpPr/>
          <p:nvPr/>
        </p:nvSpPr>
        <p:spPr>
          <a:xfrm>
            <a:off x="502920" y="28346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EEF0F3"/>
                </a:solidFill>
              </a:rPr>
              <a:t>Static plans</a:t>
            </a:r>
            <a:endParaRPr lang="en-US" sz="1300"/>
          </a:p>
        </p:txBody>
      </p:sp>
      <p:sp>
        <p:nvSpPr>
          <p:cNvPr id="7" name="Text 5"/>
          <p:cNvSpPr/>
          <p:nvPr/>
        </p:nvSpPr>
        <p:spPr>
          <a:xfrm>
            <a:off x="640080" y="3145536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8B93A3"/>
                </a:solidFill>
              </a:rPr>
              <a:t>Built once, never adjusted. A missed Monday stays missed forever.</a:t>
            </a:r>
            <a:endParaRPr lang="en-US" sz="1100"/>
          </a:p>
        </p:txBody>
      </p:sp>
      <p:sp>
        <p:nvSpPr>
          <p:cNvPr id="8" name="Shape 6"/>
          <p:cNvSpPr/>
          <p:nvPr/>
        </p:nvSpPr>
        <p:spPr>
          <a:xfrm>
            <a:off x="3337560" y="2286000"/>
            <a:ext cx="2606040" cy="1691640"/>
          </a:xfrm>
          <a:prstGeom prst="roundRect">
            <a:avLst>
              <a:gd name="adj" fmla="val 6486"/>
            </a:avLst>
          </a:prstGeom>
          <a:solidFill>
            <a:srgbClr val="1B202B"/>
          </a:solidFill>
          <a:ln w="12700">
            <a:solidFill>
              <a:srgbClr val="262C3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337560" y="23774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>
                <a:solidFill>
                  <a:srgbClr val="000000"/>
                </a:solidFill>
              </a:rPr>
              <a:t>🔕</a:t>
            </a:r>
            <a:endParaRPr lang="en-US" sz="2200"/>
          </a:p>
        </p:txBody>
      </p:sp>
      <p:sp>
        <p:nvSpPr>
          <p:cNvPr id="10" name="Text 8"/>
          <p:cNvSpPr/>
          <p:nvPr/>
        </p:nvSpPr>
        <p:spPr>
          <a:xfrm>
            <a:off x="3337560" y="28346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EEF0F3"/>
                </a:solidFill>
              </a:rPr>
              <a:t>No context</a:t>
            </a:r>
            <a:endParaRPr lang="en-US" sz="1300"/>
          </a:p>
        </p:txBody>
      </p:sp>
      <p:sp>
        <p:nvSpPr>
          <p:cNvPr id="11" name="Text 9"/>
          <p:cNvSpPr/>
          <p:nvPr/>
        </p:nvSpPr>
        <p:spPr>
          <a:xfrm>
            <a:off x="3474720" y="3145536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8B93A3"/>
                </a:solidFill>
              </a:rPr>
              <a:t>Apps don't know about travel, deadlines, a sore knee, or a rough week at work.</a:t>
            </a:r>
            <a:endParaRPr lang="en-US" sz="1100"/>
          </a:p>
        </p:txBody>
      </p:sp>
      <p:sp>
        <p:nvSpPr>
          <p:cNvPr id="12" name="Shape 10"/>
          <p:cNvSpPr/>
          <p:nvPr/>
        </p:nvSpPr>
        <p:spPr>
          <a:xfrm>
            <a:off x="6172200" y="2286000"/>
            <a:ext cx="2606040" cy="1691640"/>
          </a:xfrm>
          <a:prstGeom prst="roundRect">
            <a:avLst>
              <a:gd name="adj" fmla="val 6486"/>
            </a:avLst>
          </a:prstGeom>
          <a:solidFill>
            <a:srgbClr val="1B202B"/>
          </a:solidFill>
          <a:ln w="12700">
            <a:solidFill>
              <a:srgbClr val="262C3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172200" y="23774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>
                <a:solidFill>
                  <a:srgbClr val="000000"/>
                </a:solidFill>
              </a:rPr>
              <a:t>📉</a:t>
            </a:r>
            <a:endParaRPr lang="en-US" sz="2200"/>
          </a:p>
        </p:txBody>
      </p:sp>
      <p:sp>
        <p:nvSpPr>
          <p:cNvPr id="14" name="Text 12"/>
          <p:cNvSpPr/>
          <p:nvPr/>
        </p:nvSpPr>
        <p:spPr>
          <a:xfrm>
            <a:off x="6172200" y="28346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EEF0F3"/>
                </a:solidFill>
              </a:rPr>
              <a:t>Silent drop-off</a:t>
            </a:r>
            <a:endParaRPr lang="en-US" sz="1300"/>
          </a:p>
        </p:txBody>
      </p:sp>
      <p:sp>
        <p:nvSpPr>
          <p:cNvPr id="15" name="Text 13"/>
          <p:cNvSpPr/>
          <p:nvPr/>
        </p:nvSpPr>
        <p:spPr>
          <a:xfrm>
            <a:off x="6309360" y="3145536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8B93A3"/>
                </a:solidFill>
              </a:rPr>
              <a:t>Nobody notices until the user has already quit — usually within two weeks.</a:t>
            </a:r>
            <a:endParaRPr lang="en-US" sz="1100"/>
          </a:p>
        </p:txBody>
      </p:sp>
      <p:sp>
        <p:nvSpPr>
          <p:cNvPr id="16" name="Shape 14"/>
          <p:cNvSpPr/>
          <p:nvPr/>
        </p:nvSpPr>
        <p:spPr>
          <a:xfrm>
            <a:off x="502920" y="4114800"/>
            <a:ext cx="8138160" cy="658368"/>
          </a:xfrm>
          <a:prstGeom prst="roundRect">
            <a:avLst>
              <a:gd name="adj" fmla="val 16667"/>
            </a:avLst>
          </a:prstGeom>
          <a:solidFill>
            <a:srgbClr val="1E2535"/>
          </a:solidFill>
          <a:ln w="12700">
            <a:solidFill>
              <a:srgbClr val="C16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85800" y="416052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>
                <a:solidFill>
                  <a:srgbClr val="EEF0F3"/>
                </a:solidFill>
              </a:rPr>
              <a:t>"John didn't fail. The app did."</a:t>
            </a:r>
            <a:endParaRPr lang="en-US" sz="16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5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>
                <a:solidFill>
                  <a:srgbClr val="C1694A"/>
                </a:solidFill>
              </a:rPr>
              <a:t>THE USER</a:t>
            </a:r>
            <a:endParaRPr lang="en-US" sz="90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>
                <a:solidFill>
                  <a:srgbClr val="EEF0F3"/>
                </a:solidFill>
              </a:rPr>
              <a:t>Busy professionals: most motivated,</a:t>
            </a:r>
            <a:endParaRPr lang="en-US" sz="2800"/>
          </a:p>
          <a:p>
            <a:pPr marL="0" indent="0" algn="l">
              <a:buNone/>
            </a:pPr>
            <a:r>
              <a:rPr lang="en-US" sz="2800" b="1">
                <a:solidFill>
                  <a:srgbClr val="EEF0F3"/>
                </a:solidFill>
              </a:rPr>
              <a:t>least able to follow a rigid plan.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502920" y="2011680"/>
            <a:ext cx="8138160" cy="777240"/>
          </a:xfrm>
          <a:prstGeom prst="roundRect">
            <a:avLst>
              <a:gd name="adj" fmla="val 14118"/>
            </a:avLst>
          </a:prstGeom>
          <a:gradFill rotWithShape="1">
            <a:gsLst>
              <a:gs pos="0">
                <a:srgbClr val="EEF0F3">
                  <a:alpha val="14000"/>
                </a:srgbClr>
              </a:gs>
              <a:gs pos="45000">
                <a:srgbClr val="8FA3BF">
                  <a:alpha val="8000"/>
                </a:srgbClr>
              </a:gs>
              <a:gs pos="100000">
                <a:srgbClr val="EEF0F3">
                  <a:alpha val="4000"/>
                </a:srgbClr>
              </a:gs>
            </a:gsLst>
            <a:lin ang="2700000" scaled="0"/>
          </a:gradFill>
          <a:ln w="12700">
            <a:gradFill>
              <a:gsLst>
                <a:gs pos="0">
                  <a:srgbClr val="EEF0F3">
                    <a:alpha val="38000"/>
                  </a:srgbClr>
                </a:gs>
                <a:gs pos="100000">
                  <a:srgbClr val="EEF0F3">
                    <a:alpha val="10000"/>
                  </a:srgbClr>
                </a:gs>
              </a:gsLst>
              <a:lin ang="2700000" scaled="0"/>
            </a:gra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Icon Badge 20"/>
          <p:cNvSpPr/>
          <p:nvPr/>
        </p:nvSpPr>
        <p:spPr>
          <a:xfrm>
            <a:off x="662940" y="2130552"/>
            <a:ext cx="548640" cy="548640"/>
          </a:xfrm>
          <a:prstGeom prst="ellipse">
            <a:avLst/>
          </a:prstGeom>
          <a:gradFill rotWithShape="1">
            <a:gsLst>
              <a:gs pos="0">
                <a:srgbClr val="EEF0F3">
                  <a:alpha val="26000"/>
                </a:srgbClr>
              </a:gs>
              <a:gs pos="100000">
                <a:srgbClr val="C1694A">
                  <a:alpha val="16000"/>
                </a:srgbClr>
              </a:gs>
            </a:gsLst>
            <a:lin ang="2700000" scaled="0"/>
          </a:gradFill>
          <a:ln w="9525">
            <a:solidFill>
              <a:srgbClr val="EEF0F3">
                <a:alpha val="3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217627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>
                <a:solidFill>
                  <a:srgbClr val="000000"/>
                </a:solidFill>
              </a:rPr>
              <a:t>📅</a:t>
            </a:r>
            <a:endParaRPr lang="en-US" sz="2000"/>
          </a:p>
        </p:txBody>
      </p:sp>
      <p:sp>
        <p:nvSpPr>
          <p:cNvPr id="6" name="Text 4"/>
          <p:cNvSpPr/>
          <p:nvPr/>
        </p:nvSpPr>
        <p:spPr>
          <a:xfrm>
            <a:off x="1325880" y="20848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EEF0F3"/>
                </a:solidFill>
              </a:rPr>
              <a:t>Unpredictable weeks by design</a:t>
            </a:r>
            <a:endParaRPr lang="en-US" sz="1300"/>
          </a:p>
        </p:txBody>
      </p:sp>
      <p:sp>
        <p:nvSpPr>
          <p:cNvPr id="7" name="Text 5"/>
          <p:cNvSpPr/>
          <p:nvPr/>
        </p:nvSpPr>
        <p:spPr>
          <a:xfrm>
            <a:off x="1325880" y="2377440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B9C1CE"/>
                </a:solidFill>
              </a:rPr>
              <a:t>A client deadline kills Tuesday's session. A work trip moves the whole week. Sleep suffers.</a:t>
            </a:r>
            <a:endParaRPr lang="en-US" sz="1100"/>
          </a:p>
        </p:txBody>
      </p:sp>
      <p:sp>
        <p:nvSpPr>
          <p:cNvPr id="8" name="Shape 6"/>
          <p:cNvSpPr/>
          <p:nvPr/>
        </p:nvSpPr>
        <p:spPr>
          <a:xfrm>
            <a:off x="502920" y="2907792"/>
            <a:ext cx="8138160" cy="777240"/>
          </a:xfrm>
          <a:prstGeom prst="roundRect">
            <a:avLst>
              <a:gd name="adj" fmla="val 14118"/>
            </a:avLst>
          </a:prstGeom>
          <a:gradFill rotWithShape="1">
            <a:gsLst>
              <a:gs pos="0">
                <a:srgbClr val="EEF0F3">
                  <a:alpha val="14000"/>
                </a:srgbClr>
              </a:gs>
              <a:gs pos="45000">
                <a:srgbClr val="8FA3BF">
                  <a:alpha val="8000"/>
                </a:srgbClr>
              </a:gs>
              <a:gs pos="100000">
                <a:srgbClr val="EEF0F3">
                  <a:alpha val="4000"/>
                </a:srgbClr>
              </a:gs>
            </a:gsLst>
            <a:lin ang="2700000" scaled="0"/>
          </a:gradFill>
          <a:ln w="12700">
            <a:gradFill>
              <a:gsLst>
                <a:gs pos="0">
                  <a:srgbClr val="EEF0F3">
                    <a:alpha val="38000"/>
                  </a:srgbClr>
                </a:gs>
                <a:gs pos="100000">
                  <a:srgbClr val="EEF0F3">
                    <a:alpha val="10000"/>
                  </a:srgbClr>
                </a:gs>
              </a:gsLst>
              <a:lin ang="2700000" scaled="0"/>
            </a:gra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Icon Badge 21"/>
          <p:cNvSpPr/>
          <p:nvPr/>
        </p:nvSpPr>
        <p:spPr>
          <a:xfrm>
            <a:off x="662940" y="3026664"/>
            <a:ext cx="548640" cy="548640"/>
          </a:xfrm>
          <a:prstGeom prst="ellipse">
            <a:avLst/>
          </a:prstGeom>
          <a:gradFill rotWithShape="1">
            <a:gsLst>
              <a:gs pos="0">
                <a:srgbClr val="EEF0F3">
                  <a:alpha val="26000"/>
                </a:srgbClr>
              </a:gs>
              <a:gs pos="100000">
                <a:srgbClr val="C1694A">
                  <a:alpha val="16000"/>
                </a:srgbClr>
              </a:gs>
            </a:gsLst>
            <a:lin ang="2700000" scaled="0"/>
          </a:gradFill>
          <a:ln w="9525">
            <a:solidFill>
              <a:srgbClr val="EEF0F3">
                <a:alpha val="3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307238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>
                <a:solidFill>
                  <a:srgbClr val="000000"/>
                </a:solidFill>
              </a:rPr>
              <a:t>📱</a:t>
            </a:r>
            <a:endParaRPr lang="en-US" sz="2000"/>
          </a:p>
        </p:txBody>
      </p:sp>
      <p:sp>
        <p:nvSpPr>
          <p:cNvPr id="10" name="Text 8"/>
          <p:cNvSpPr/>
          <p:nvPr/>
        </p:nvSpPr>
        <p:spPr>
          <a:xfrm>
            <a:off x="1325880" y="298094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EEF0F3"/>
                </a:solidFill>
              </a:rPr>
              <a:t>Apps show a broken streak</a:t>
            </a:r>
            <a:endParaRPr lang="en-US" sz="1300"/>
          </a:p>
        </p:txBody>
      </p:sp>
      <p:sp>
        <p:nvSpPr>
          <p:cNvPr id="11" name="Text 9"/>
          <p:cNvSpPr/>
          <p:nvPr/>
        </p:nvSpPr>
        <p:spPr>
          <a:xfrm>
            <a:off x="1325880" y="3273552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B9C1CE"/>
                </a:solidFill>
              </a:rPr>
              <a:t>Every existing app records the miss and presents the same static plan on Monday as if nothing changed.</a:t>
            </a:r>
            <a:endParaRPr lang="en-US" sz="1100"/>
          </a:p>
        </p:txBody>
      </p:sp>
      <p:sp>
        <p:nvSpPr>
          <p:cNvPr id="12" name="Shape 10"/>
          <p:cNvSpPr/>
          <p:nvPr/>
        </p:nvSpPr>
        <p:spPr>
          <a:xfrm>
            <a:off x="502920" y="3803904"/>
            <a:ext cx="8138160" cy="777240"/>
          </a:xfrm>
          <a:prstGeom prst="roundRect">
            <a:avLst>
              <a:gd name="adj" fmla="val 14118"/>
            </a:avLst>
          </a:prstGeom>
          <a:gradFill rotWithShape="1">
            <a:gsLst>
              <a:gs pos="0">
                <a:srgbClr val="EEF0F3">
                  <a:alpha val="14000"/>
                </a:srgbClr>
              </a:gs>
              <a:gs pos="45000">
                <a:srgbClr val="8FA3BF">
                  <a:alpha val="8000"/>
                </a:srgbClr>
              </a:gs>
              <a:gs pos="100000">
                <a:srgbClr val="EEF0F3">
                  <a:alpha val="4000"/>
                </a:srgbClr>
              </a:gs>
            </a:gsLst>
            <a:lin ang="2700000" scaled="0"/>
          </a:gradFill>
          <a:ln w="12700">
            <a:gradFill>
              <a:gsLst>
                <a:gs pos="0">
                  <a:srgbClr val="EEF0F3">
                    <a:alpha val="38000"/>
                  </a:srgbClr>
                </a:gs>
                <a:gs pos="100000">
                  <a:srgbClr val="EEF0F3">
                    <a:alpha val="10000"/>
                  </a:srgbClr>
                </a:gs>
              </a:gsLst>
              <a:lin ang="2700000" scaled="0"/>
            </a:gra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Icon Badge 22"/>
          <p:cNvSpPr/>
          <p:nvPr/>
        </p:nvSpPr>
        <p:spPr>
          <a:xfrm>
            <a:off x="662940" y="3922776"/>
            <a:ext cx="548640" cy="548640"/>
          </a:xfrm>
          <a:prstGeom prst="ellipse">
            <a:avLst/>
          </a:prstGeom>
          <a:gradFill rotWithShape="1">
            <a:gsLst>
              <a:gs pos="0">
                <a:srgbClr val="EEF0F3">
                  <a:alpha val="26000"/>
                </a:srgbClr>
              </a:gs>
              <a:gs pos="100000">
                <a:srgbClr val="C1694A">
                  <a:alpha val="16000"/>
                </a:srgbClr>
              </a:gs>
            </a:gsLst>
            <a:lin ang="2700000" scaled="0"/>
          </a:gradFill>
          <a:ln w="9525">
            <a:solidFill>
              <a:srgbClr val="EEF0F3">
                <a:alpha val="3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5800" y="396849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>
                <a:solidFill>
                  <a:srgbClr val="000000"/>
                </a:solidFill>
              </a:rPr>
              <a:t>💡</a:t>
            </a:r>
            <a:endParaRPr lang="en-US" sz="2000"/>
          </a:p>
        </p:txBody>
      </p:sp>
      <p:sp>
        <p:nvSpPr>
          <p:cNvPr id="14" name="Text 12"/>
          <p:cNvSpPr/>
          <p:nvPr/>
        </p:nvSpPr>
        <p:spPr>
          <a:xfrm>
            <a:off x="1325880" y="387705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EEF0F3"/>
                </a:solidFill>
              </a:rPr>
              <a:t>They need adaptation, not guilt</a:t>
            </a:r>
            <a:endParaRPr lang="en-US" sz="1300"/>
          </a:p>
        </p:txBody>
      </p:sp>
      <p:sp>
        <p:nvSpPr>
          <p:cNvPr id="15" name="Text 13"/>
          <p:cNvSpPr/>
          <p:nvPr/>
        </p:nvSpPr>
        <p:spPr>
          <a:xfrm>
            <a:off x="1325880" y="4169664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B9C1CE"/>
                </a:solidFill>
              </a:rPr>
              <a:t>They don't need a harder plan or a louder reminder — they need a coach who asks what happened.</a:t>
            </a:r>
            <a:endParaRPr lang="en-US" sz="1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5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C1694A"/>
                </a:solidFill>
              </a:rPr>
              <a:t>THE SOLUTION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EEF0F3"/>
                </a:solidFill>
              </a:rPr>
              <a:t>A coaching team, not a chatbot.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B93A3"/>
                </a:solidFill>
              </a:rPr>
              <a:t>Five specialist agents coordinate behind the scenes — supervised by a Coach that routes, negotiates, and resolves conflicts before the user ever sees a proposal.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2011680"/>
            <a:ext cx="8138160" cy="594360"/>
          </a:xfrm>
          <a:prstGeom prst="roundRect">
            <a:avLst>
              <a:gd name="adj" fmla="val 18462"/>
            </a:avLst>
          </a:prstGeom>
          <a:solidFill>
            <a:srgbClr val="1B202B"/>
          </a:solidFill>
          <a:ln w="12700">
            <a:solidFill>
              <a:srgbClr val="C16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210312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1694A"/>
                </a:solidFill>
              </a:rPr>
              <a:t>🎯  Coach — Supervisor · routes intent · resolves agent conflicts · approves every plan change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2788920"/>
            <a:ext cx="1920240" cy="960120"/>
          </a:xfrm>
          <a:prstGeom prst="roundRect">
            <a:avLst>
              <a:gd name="adj" fmla="val 11429"/>
            </a:avLst>
          </a:prstGeom>
          <a:solidFill>
            <a:srgbClr val="1B202B"/>
          </a:solidFill>
          <a:ln w="12700">
            <a:solidFill>
              <a:srgbClr val="262C3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286207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EF0F3"/>
                </a:solidFill>
              </a:rPr>
              <a:t>Scheduler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3145536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3A3"/>
                </a:solidFill>
              </a:rPr>
              <a:t>Weekly plans · injury-safe exercise selection · calendar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60320" y="2788920"/>
            <a:ext cx="1920240" cy="960120"/>
          </a:xfrm>
          <a:prstGeom prst="roundRect">
            <a:avLst>
              <a:gd name="adj" fmla="val 11429"/>
            </a:avLst>
          </a:prstGeom>
          <a:solidFill>
            <a:srgbClr val="1B202B"/>
          </a:solidFill>
          <a:ln w="12700">
            <a:solidFill>
              <a:srgbClr val="262C3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651760" y="286207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EF0F3"/>
                </a:solidFill>
              </a:rPr>
              <a:t>Nutrition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51760" y="3145536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3A3"/>
                </a:solidFill>
              </a:rPr>
              <a:t>Macro targets · meal logging · condition-aware nudges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17720" y="2788920"/>
            <a:ext cx="1920240" cy="960120"/>
          </a:xfrm>
          <a:prstGeom prst="roundRect">
            <a:avLst>
              <a:gd name="adj" fmla="val 11429"/>
            </a:avLst>
          </a:prstGeom>
          <a:solidFill>
            <a:srgbClr val="1B202B"/>
          </a:solidFill>
          <a:ln w="12700">
            <a:solidFill>
              <a:srgbClr val="262C3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09160" y="286207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EF0F3"/>
                </a:solidFill>
              </a:rPr>
              <a:t>Adherence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09160" y="3145536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3A3"/>
                </a:solidFill>
              </a:rPr>
              <a:t>Drop-off detection · proactive re-plan offers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675120" y="2788920"/>
            <a:ext cx="1920240" cy="960120"/>
          </a:xfrm>
          <a:prstGeom prst="roundRect">
            <a:avLst>
              <a:gd name="adj" fmla="val 11429"/>
            </a:avLst>
          </a:prstGeom>
          <a:solidFill>
            <a:srgbClr val="1B202B"/>
          </a:solidFill>
          <a:ln w="12700">
            <a:solidFill>
              <a:srgbClr val="262C3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766560" y="286207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EF0F3"/>
                </a:solidFill>
              </a:rPr>
              <a:t>Knowledge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766560" y="3145536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3A3"/>
                </a:solidFill>
              </a:rPr>
              <a:t>Evidence-based Q&amp;A · curated KB · web search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404164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8B93A3"/>
                </a:solidFill>
              </a:rPr>
              <a:t>Four retrieval corpora: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4315968"/>
            <a:ext cx="1920240" cy="566928"/>
          </a:xfrm>
          <a:prstGeom prst="roundRect">
            <a:avLst>
              <a:gd name="adj" fmla="val 19355"/>
            </a:avLst>
          </a:prstGeom>
          <a:solidFill>
            <a:srgbClr val="151A24"/>
          </a:solidFill>
          <a:ln w="12700">
            <a:solidFill>
              <a:srgbClr val="C16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76072" y="4334256"/>
            <a:ext cx="17739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EF0F3"/>
                </a:solidFill>
              </a:rPr>
              <a:t>📖 Curated KB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EF0F3"/>
                </a:solidFill>
              </a:rPr>
              <a:t>76 exercises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560320" y="4315968"/>
            <a:ext cx="1920240" cy="566928"/>
          </a:xfrm>
          <a:prstGeom prst="roundRect">
            <a:avLst>
              <a:gd name="adj" fmla="val 19355"/>
            </a:avLst>
          </a:prstGeom>
          <a:solidFill>
            <a:srgbClr val="151A24"/>
          </a:solidFill>
          <a:ln w="12700">
            <a:solidFill>
              <a:srgbClr val="C16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633472" y="4334256"/>
            <a:ext cx="17739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EF0F3"/>
                </a:solidFill>
              </a:rPr>
              <a:t>🧠 Coaching memory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EF0F3"/>
                </a:solidFill>
              </a:rPr>
              <a:t>12-week history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17720" y="4315968"/>
            <a:ext cx="1920240" cy="566928"/>
          </a:xfrm>
          <a:prstGeom prst="roundRect">
            <a:avLst>
              <a:gd name="adj" fmla="val 19355"/>
            </a:avLst>
          </a:prstGeom>
          <a:solidFill>
            <a:srgbClr val="151A24"/>
          </a:solidFill>
          <a:ln w="12700">
            <a:solidFill>
              <a:srgbClr val="C16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690872" y="4334256"/>
            <a:ext cx="17739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EF0F3"/>
                </a:solidFill>
              </a:rPr>
              <a:t>📄 Personal docs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EF0F3"/>
                </a:solidFill>
              </a:rPr>
              <a:t>Uploaded once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675120" y="4315968"/>
            <a:ext cx="1920240" cy="566928"/>
          </a:xfrm>
          <a:prstGeom prst="roundRect">
            <a:avLst>
              <a:gd name="adj" fmla="val 19355"/>
            </a:avLst>
          </a:prstGeom>
          <a:solidFill>
            <a:srgbClr val="151A24"/>
          </a:solidFill>
          <a:ln w="12700">
            <a:solidFill>
              <a:srgbClr val="C16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748272" y="4334256"/>
            <a:ext cx="17739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EF0F3"/>
                </a:solidFill>
              </a:rPr>
              <a:t>🌐 Web search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EF0F3"/>
                </a:solidFill>
              </a:rPr>
              <a:t>Live Tavily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5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C1694A"/>
                </a:solidFill>
              </a:rPr>
              <a:t>LIVE DEMO — JOHN'S WEDNESDAY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EF0F3"/>
                </a:solidFill>
              </a:rPr>
              <a:t>One conversation. Four sources. One rough week made smaller.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2057400"/>
            <a:ext cx="3977640" cy="1188720"/>
          </a:xfrm>
          <a:prstGeom prst="roundRect">
            <a:avLst>
              <a:gd name="adj" fmla="val 9231"/>
            </a:avLst>
          </a:prstGeom>
          <a:solidFill>
            <a:srgbClr val="1B202B"/>
          </a:solidFill>
          <a:ln w="12700">
            <a:solidFill>
              <a:srgbClr val="262C3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67512" y="216712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EF0F3"/>
                </a:solidFill>
              </a:rPr>
              <a:t>💬  Beat 1: The bad week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67512" y="2478024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B93A3"/>
                </a:solidFill>
              </a:rPr>
              <a:t>"Work has been brutal and I've barely trained." → checks real adherence data → cites 3 memory weeks → proactively offers to simplify.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709160" y="2057400"/>
            <a:ext cx="3977640" cy="1188720"/>
          </a:xfrm>
          <a:prstGeom prst="roundRect">
            <a:avLst>
              <a:gd name="adj" fmla="val 9231"/>
            </a:avLst>
          </a:prstGeom>
          <a:solidFill>
            <a:srgbClr val="1B202B"/>
          </a:solidFill>
          <a:ln w="12700">
            <a:solidFill>
              <a:srgbClr val="262C3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73752" y="216712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EF0F3"/>
                </a:solidFill>
              </a:rPr>
              <a:t>📸  Beat 2: The work dinner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73752" y="2478024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B93A3"/>
                </a:solidFill>
              </a:rPr>
              <a:t>Burger photo → USDA macros → hypertension flag from uploaded health doc John never mentioned in this conversation.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3456432"/>
            <a:ext cx="3977640" cy="1188720"/>
          </a:xfrm>
          <a:prstGeom prst="roundRect">
            <a:avLst>
              <a:gd name="adj" fmla="val 9231"/>
            </a:avLst>
          </a:prstGeom>
          <a:solidFill>
            <a:srgbClr val="1B202B"/>
          </a:solidFill>
          <a:ln w="12700">
            <a:solidFill>
              <a:srgbClr val="262C3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67512" y="356616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EF0F3"/>
                </a:solidFill>
              </a:rPr>
              <a:t>🥗  Beat 3: What should I eat?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7512" y="3877056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B93A3"/>
                </a:solidFill>
              </a:rPr>
              <a:t>Real remaining calories + vegetarian profile + diabetes/hypertension from doc + KB citation. Four sources, one cited answer.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09160" y="3456432"/>
            <a:ext cx="3977640" cy="1188720"/>
          </a:xfrm>
          <a:prstGeom prst="roundRect">
            <a:avLst>
              <a:gd name="adj" fmla="val 9231"/>
            </a:avLst>
          </a:prstGeom>
          <a:solidFill>
            <a:srgbClr val="1B202B"/>
          </a:solidFill>
          <a:ln w="12700">
            <a:solidFill>
              <a:srgbClr val="262C3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73752" y="356616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EF0F3"/>
                </a:solidFill>
              </a:rPr>
              <a:t>⚙️  Beat 4: The autonomous loop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73752" y="3877056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B93A3"/>
                </a:solidFill>
              </a:rPr>
              <a:t>Live curl to the Sunday weekly-review endpoint — coaching team runs without John opening the app.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5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C1694A"/>
                </a:solidFill>
              </a:rPr>
              <a:t>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EEF0F3"/>
                </a:solidFill>
              </a:rPr>
              <a:t>How it's built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1874520"/>
            <a:ext cx="4023360" cy="868680"/>
          </a:xfrm>
          <a:prstGeom prst="roundRect">
            <a:avLst>
              <a:gd name="adj" fmla="val 12632"/>
            </a:avLst>
          </a:prstGeom>
          <a:solidFill>
            <a:srgbClr val="1A4A5A"/>
          </a:solidFill>
          <a:ln w="12700">
            <a:solidFill>
              <a:srgbClr val="262C3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EF0F3"/>
                </a:solidFill>
              </a:rPr>
              <a:t>🖥  Client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224028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3A3"/>
                </a:solidFill>
              </a:rPr>
              <a:t>Next.js · Vercel · Responsive (mobile + desktop)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54880" y="1874520"/>
            <a:ext cx="4023360" cy="868680"/>
          </a:xfrm>
          <a:prstGeom prst="roundRect">
            <a:avLst>
              <a:gd name="adj" fmla="val 12632"/>
            </a:avLst>
          </a:prstGeom>
          <a:solidFill>
            <a:srgbClr val="2A1A4A"/>
          </a:solidFill>
          <a:ln w="12700">
            <a:solidFill>
              <a:srgbClr val="262C3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92040" y="19659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EF0F3"/>
                </a:solidFill>
              </a:rPr>
              <a:t>⚙️  API Layer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92040" y="224028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3A3"/>
                </a:solidFill>
              </a:rPr>
              <a:t>FastAPI · Render · Scope gate · Rate limiting · X-User-Id tenancy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2862072"/>
            <a:ext cx="4023360" cy="868680"/>
          </a:xfrm>
          <a:prstGeom prst="roundRect">
            <a:avLst>
              <a:gd name="adj" fmla="val 12632"/>
            </a:avLst>
          </a:prstGeom>
          <a:solidFill>
            <a:srgbClr val="3A1A2A"/>
          </a:solidFill>
          <a:ln w="12700">
            <a:solidFill>
              <a:srgbClr val="262C3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29535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EF0F3"/>
                </a:solidFill>
              </a:rPr>
              <a:t>🧠  Agents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227832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3A3"/>
                </a:solidFill>
              </a:rPr>
              <a:t>LangGraph multi-agent · bind_tools · Postgres checkpointer · HITL approval interrupt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2862072"/>
            <a:ext cx="4023360" cy="868680"/>
          </a:xfrm>
          <a:prstGeom prst="roundRect">
            <a:avLst>
              <a:gd name="adj" fmla="val 12632"/>
            </a:avLst>
          </a:prstGeom>
          <a:solidFill>
            <a:srgbClr val="1A3A2A"/>
          </a:solidFill>
          <a:ln w="12700">
            <a:solidFill>
              <a:srgbClr val="262C3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92040" y="29535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EF0F3"/>
                </a:solidFill>
              </a:rPr>
              <a:t>🔧  Tools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92040" y="3227832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3A3"/>
                </a:solidFill>
              </a:rPr>
              <a:t>USDA FoodData · Tavily web · exercise_lookup.json · Vision (meal photos) · Hybrid retriever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3849624"/>
            <a:ext cx="4023360" cy="868680"/>
          </a:xfrm>
          <a:prstGeom prst="roundRect">
            <a:avLst>
              <a:gd name="adj" fmla="val 12632"/>
            </a:avLst>
          </a:prstGeom>
          <a:solidFill>
            <a:srgbClr val="3A2A1A"/>
          </a:solidFill>
          <a:ln w="12700">
            <a:solidFill>
              <a:srgbClr val="262C3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394106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EF0F3"/>
                </a:solidFill>
              </a:rPr>
              <a:t>🗄  Data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4215384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3A3"/>
                </a:solidFill>
              </a:rPr>
              <a:t>Neon Postgres · pgvector · 11 tables · ephemeral try-* profiles · daily cleanup cron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3849624"/>
            <a:ext cx="4023360" cy="868680"/>
          </a:xfrm>
          <a:prstGeom prst="roundRect">
            <a:avLst>
              <a:gd name="adj" fmla="val 12632"/>
            </a:avLst>
          </a:prstGeom>
          <a:solidFill>
            <a:srgbClr val="3A1A1A"/>
          </a:solidFill>
          <a:ln w="12700">
            <a:solidFill>
              <a:srgbClr val="262C3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92040" y="394106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EF0F3"/>
                </a:solidFill>
              </a:rPr>
              <a:t>📊  Observability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92040" y="4215384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3A3"/>
                </a:solidFill>
              </a:rPr>
              <a:t>LangSmith · @traceable spans · RAGAS + LLM-as-judge · 96+ golden cases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5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C1694A"/>
                </a:solidFill>
              </a:rPr>
              <a:t>EVALUATION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EEF0F3"/>
                </a:solidFill>
              </a:rPr>
              <a:t>Tested like production, not a demo.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2514600" cy="1005840"/>
          </a:xfrm>
          <a:prstGeom prst="roundRect">
            <a:avLst>
              <a:gd name="adj" fmla="val 10909"/>
            </a:avLst>
          </a:prstGeom>
          <a:solidFill>
            <a:srgbClr val="1B202B"/>
          </a:solidFill>
          <a:ln w="12700">
            <a:solidFill>
              <a:srgbClr val="262C3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901952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C1694A"/>
                </a:solidFill>
              </a:rPr>
              <a:t>96+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02920" y="248716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3A3"/>
                </a:solidFill>
              </a:rPr>
              <a:t>Golden test cases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46120" y="1828800"/>
            <a:ext cx="2514600" cy="1005840"/>
          </a:xfrm>
          <a:prstGeom prst="roundRect">
            <a:avLst>
              <a:gd name="adj" fmla="val 10909"/>
            </a:avLst>
          </a:prstGeom>
          <a:solidFill>
            <a:srgbClr val="1B202B"/>
          </a:solidFill>
          <a:ln w="12700">
            <a:solidFill>
              <a:srgbClr val="262C3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46120" y="1901952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C1694A"/>
                </a:solidFill>
              </a:rPr>
              <a:t>5.0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246120" y="248716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3A3"/>
                </a:solidFill>
              </a:rPr>
              <a:t>Safety score (avg)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89320" y="1828800"/>
            <a:ext cx="2514600" cy="1005840"/>
          </a:xfrm>
          <a:prstGeom prst="roundRect">
            <a:avLst>
              <a:gd name="adj" fmla="val 10909"/>
            </a:avLst>
          </a:prstGeom>
          <a:solidFill>
            <a:srgbClr val="1B202B"/>
          </a:solidFill>
          <a:ln w="12700">
            <a:solidFill>
              <a:srgbClr val="262C3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89320" y="1901952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C1694A"/>
                </a:solidFill>
              </a:rPr>
              <a:t>13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989320" y="248716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3A3"/>
                </a:solidFill>
              </a:rPr>
              <a:t>Eval categories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3017520"/>
            <a:ext cx="8138160" cy="384048"/>
          </a:xfrm>
          <a:prstGeom prst="roundRect">
            <a:avLst>
              <a:gd name="adj" fmla="val 28571"/>
            </a:avLst>
          </a:prstGeom>
          <a:solidFill>
            <a:srgbClr val="1B202B"/>
          </a:solidFill>
          <a:ln w="12700">
            <a:solidFill>
              <a:srgbClr val="262C3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85800" y="309067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EF0F3"/>
                </a:solidFill>
              </a:rPr>
              <a:t>LLM-as-judge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423160" y="309067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B93A3"/>
                </a:solidFill>
              </a:rPr>
              <a:t>Tone · Safety · Plan sanity · Groundedness — scored 0–5 across 13 categories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498080" y="309067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7A9B76"/>
                </a:solidFill>
              </a:rPr>
              <a:t>4.9 avg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3456432"/>
            <a:ext cx="8138160" cy="384048"/>
          </a:xfrm>
          <a:prstGeom prst="roundRect">
            <a:avLst>
              <a:gd name="adj" fmla="val 28571"/>
            </a:avLst>
          </a:prstGeom>
          <a:solidFill>
            <a:srgbClr val="1B202B"/>
          </a:solidFill>
          <a:ln w="12700">
            <a:solidFill>
              <a:srgbClr val="262C3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85800" y="352958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EF0F3"/>
                </a:solidFill>
              </a:rPr>
              <a:t>RAGAS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423160" y="352958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B93A3"/>
                </a:solidFill>
              </a:rPr>
              <a:t>Faithfulness · Context precision/recall · Answer correctness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498080" y="352958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7A9B76"/>
                </a:solidFill>
              </a:rPr>
              <a:t>0.78 faith.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02920" y="3895344"/>
            <a:ext cx="8138160" cy="384048"/>
          </a:xfrm>
          <a:prstGeom prst="roundRect">
            <a:avLst>
              <a:gd name="adj" fmla="val 28571"/>
            </a:avLst>
          </a:prstGeom>
          <a:solidFill>
            <a:srgbClr val="1B202B"/>
          </a:solidFill>
          <a:ln w="12700">
            <a:solidFill>
              <a:srgbClr val="262C3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85800" y="396849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EF0F3"/>
                </a:solidFill>
              </a:rPr>
              <a:t>Adversarial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423160" y="396849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B93A3"/>
                </a:solidFill>
              </a:rPr>
              <a:t>Injection attempts · out-of-scope requests · safety refusals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498080" y="396849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7A9B76"/>
                </a:solidFill>
              </a:rPr>
              <a:t>5.0 safety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02920" y="4334256"/>
            <a:ext cx="8138160" cy="384048"/>
          </a:xfrm>
          <a:prstGeom prst="roundRect">
            <a:avLst>
              <a:gd name="adj" fmla="val 28571"/>
            </a:avLst>
          </a:prstGeom>
          <a:solidFill>
            <a:srgbClr val="1B202B"/>
          </a:solidFill>
          <a:ln w="12700">
            <a:solidFill>
              <a:srgbClr val="262C3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85800" y="440740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EF0F3"/>
                </a:solidFill>
              </a:rPr>
              <a:t>Topic interrupts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423160" y="440740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B93A3"/>
                </a:solidFill>
              </a:rPr>
              <a:t>"My knee hurts" mid-nutrition-chat routes correctly to schedule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498080" y="440740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7A9B76"/>
                </a:solidFill>
              </a:rPr>
              <a:t>5.0 safety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5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C1694A"/>
                </a:solidFill>
              </a:rPr>
              <a:t>THE MOST IMPORTANT THING I BUILT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EEF0F3"/>
                </a:solidFill>
              </a:rPr>
              <a:t>Not a feature. A finding.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8138160" cy="1417320"/>
          </a:xfrm>
          <a:prstGeom prst="roundRect">
            <a:avLst>
              <a:gd name="adj" fmla="val 7742"/>
            </a:avLst>
          </a:prstGeom>
          <a:solidFill>
            <a:srgbClr val="1E1510"/>
          </a:solidFill>
          <a:ln w="12700">
            <a:solidFill>
              <a:srgbClr val="C16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C1694A"/>
                </a:solidFill>
              </a:rPr>
              <a:t>🐛  Discovered Day 13 of 14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240280"/>
            <a:ext cx="76809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EEF0F3"/>
                </a:solidFill>
              </a:rPr>
              <a:t>My KB retrieval had been silently broken for 13 days. A SQL parameter-ordering bug caused every query to return [kb:error] and fall back to web search. Every eval score looked fine — because answers were still coherent, just grounded in the wrong source. I found it by reading the raw retrieved data, not trusting the aggregate metric.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3383280"/>
            <a:ext cx="8138160" cy="1188720"/>
          </a:xfrm>
          <a:prstGeom prst="roundRect">
            <a:avLst>
              <a:gd name="adj" fmla="val 9231"/>
            </a:avLst>
          </a:prstGeom>
          <a:solidFill>
            <a:srgbClr val="101E14"/>
          </a:solidFill>
          <a:ln w="12700">
            <a:solidFill>
              <a:srgbClr val="7A9B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34747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7A9B76"/>
                </a:solidFill>
              </a:rPr>
              <a:t>📊  Honest result — reversed the original conclusion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3785616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EF0F3"/>
                </a:solidFill>
              </a:rPr>
              <a:t>After fixing and re-running the ablation honestly: dense-only retrieval outperformed hybrid RRF on 4 of 5 metrics. The original "hybrid beats dense by 50%" claim was noise from a shared failure mode. I reported the reversal.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EF0F3"/>
                </a:solidFill>
              </a:rPr>
              <a:t>Eval scores measure coherence, not correctness of source. Spot-check raw retrieved content — never trust the aggregate metric alone.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5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C1694A"/>
                </a:solidFill>
              </a:rPr>
              <a:t>ROADMAP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EF0F3"/>
                </a:solidFill>
              </a:rPr>
              <a:t>Where SteadyFit goes next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3291840"/>
            <a:ext cx="2194560" cy="347472"/>
          </a:xfrm>
          <a:prstGeom prst="roundRect">
            <a:avLst>
              <a:gd name="adj" fmla="val 50000"/>
            </a:avLst>
          </a:prstGeom>
          <a:solidFill>
            <a:srgbClr val="2A2E38"/>
          </a:solidFill>
          <a:ln w="12700">
            <a:solidFill>
              <a:srgbClr val="2A2E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645920" y="2606040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2A2E38"/>
          </a:solidFill>
          <a:ln w="12700">
            <a:solidFill>
              <a:srgbClr val="2A2E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91840" y="3200400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2A2E38"/>
          </a:solidFill>
          <a:ln w="12700">
            <a:solidFill>
              <a:srgbClr val="2A2E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937760" y="2542032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2A2E38"/>
          </a:solidFill>
          <a:ln w="12700">
            <a:solidFill>
              <a:srgbClr val="2A2E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583680" y="3108960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2A2E38"/>
          </a:solidFill>
          <a:ln w="12700">
            <a:solidFill>
              <a:srgbClr val="2A2E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40080" y="3438144"/>
            <a:ext cx="164592" cy="45720"/>
          </a:xfrm>
          <a:prstGeom prst="roundRect">
            <a:avLst>
              <a:gd name="adj" fmla="val 40000"/>
            </a:avLst>
          </a:prstGeom>
          <a:solidFill>
            <a:srgbClr val="FFFFFF">
              <a:alpha val="35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69264" y="3438144"/>
            <a:ext cx="164592" cy="45720"/>
          </a:xfrm>
          <a:prstGeom prst="roundRect">
            <a:avLst>
              <a:gd name="adj" fmla="val 40000"/>
            </a:avLst>
          </a:prstGeom>
          <a:solidFill>
            <a:srgbClr val="FFFFFF">
              <a:alpha val="35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298448" y="3438144"/>
            <a:ext cx="164592" cy="45720"/>
          </a:xfrm>
          <a:prstGeom prst="roundRect">
            <a:avLst>
              <a:gd name="adj" fmla="val 40000"/>
            </a:avLst>
          </a:prstGeom>
          <a:solidFill>
            <a:srgbClr val="FFFFFF">
              <a:alpha val="35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627632" y="3438144"/>
            <a:ext cx="164592" cy="45720"/>
          </a:xfrm>
          <a:prstGeom prst="roundRect">
            <a:avLst>
              <a:gd name="adj" fmla="val 40000"/>
            </a:avLst>
          </a:prstGeom>
          <a:solidFill>
            <a:srgbClr val="FFFFFF">
              <a:alpha val="35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956816" y="3438144"/>
            <a:ext cx="164592" cy="45720"/>
          </a:xfrm>
          <a:prstGeom prst="roundRect">
            <a:avLst>
              <a:gd name="adj" fmla="val 40000"/>
            </a:avLst>
          </a:prstGeom>
          <a:solidFill>
            <a:srgbClr val="FFFFFF">
              <a:alpha val="35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011680" y="2752344"/>
            <a:ext cx="164592" cy="45720"/>
          </a:xfrm>
          <a:prstGeom prst="roundRect">
            <a:avLst>
              <a:gd name="adj" fmla="val 40000"/>
            </a:avLst>
          </a:prstGeom>
          <a:solidFill>
            <a:srgbClr val="FFFFFF">
              <a:alpha val="35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340864" y="2752344"/>
            <a:ext cx="164592" cy="45720"/>
          </a:xfrm>
          <a:prstGeom prst="roundRect">
            <a:avLst>
              <a:gd name="adj" fmla="val 40000"/>
            </a:avLst>
          </a:prstGeom>
          <a:solidFill>
            <a:srgbClr val="FFFFFF">
              <a:alpha val="35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670048" y="2752344"/>
            <a:ext cx="164592" cy="45720"/>
          </a:xfrm>
          <a:prstGeom prst="roundRect">
            <a:avLst>
              <a:gd name="adj" fmla="val 40000"/>
            </a:avLst>
          </a:prstGeom>
          <a:solidFill>
            <a:srgbClr val="FFFFFF">
              <a:alpha val="35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999232" y="2752344"/>
            <a:ext cx="164592" cy="45720"/>
          </a:xfrm>
          <a:prstGeom prst="roundRect">
            <a:avLst>
              <a:gd name="adj" fmla="val 40000"/>
            </a:avLst>
          </a:prstGeom>
          <a:solidFill>
            <a:srgbClr val="FFFFFF">
              <a:alpha val="35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328416" y="2752344"/>
            <a:ext cx="164592" cy="45720"/>
          </a:xfrm>
          <a:prstGeom prst="roundRect">
            <a:avLst>
              <a:gd name="adj" fmla="val 40000"/>
            </a:avLst>
          </a:prstGeom>
          <a:solidFill>
            <a:srgbClr val="FFFFFF">
              <a:alpha val="35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657600" y="3346704"/>
            <a:ext cx="164592" cy="45720"/>
          </a:xfrm>
          <a:prstGeom prst="roundRect">
            <a:avLst>
              <a:gd name="adj" fmla="val 40000"/>
            </a:avLst>
          </a:prstGeom>
          <a:solidFill>
            <a:srgbClr val="FFFFFF">
              <a:alpha val="35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986784" y="3346704"/>
            <a:ext cx="164592" cy="45720"/>
          </a:xfrm>
          <a:prstGeom prst="roundRect">
            <a:avLst>
              <a:gd name="adj" fmla="val 40000"/>
            </a:avLst>
          </a:prstGeom>
          <a:solidFill>
            <a:srgbClr val="FFFFFF">
              <a:alpha val="35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315968" y="3346704"/>
            <a:ext cx="164592" cy="45720"/>
          </a:xfrm>
          <a:prstGeom prst="roundRect">
            <a:avLst>
              <a:gd name="adj" fmla="val 40000"/>
            </a:avLst>
          </a:prstGeom>
          <a:solidFill>
            <a:srgbClr val="FFFFFF">
              <a:alpha val="35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645152" y="3346704"/>
            <a:ext cx="164592" cy="45720"/>
          </a:xfrm>
          <a:prstGeom prst="roundRect">
            <a:avLst>
              <a:gd name="adj" fmla="val 40000"/>
            </a:avLst>
          </a:prstGeom>
          <a:solidFill>
            <a:srgbClr val="FFFFFF">
              <a:alpha val="35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974336" y="3346704"/>
            <a:ext cx="164592" cy="45720"/>
          </a:xfrm>
          <a:prstGeom prst="roundRect">
            <a:avLst>
              <a:gd name="adj" fmla="val 40000"/>
            </a:avLst>
          </a:prstGeom>
          <a:solidFill>
            <a:srgbClr val="FFFFFF">
              <a:alpha val="35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303520" y="2688336"/>
            <a:ext cx="164592" cy="45720"/>
          </a:xfrm>
          <a:prstGeom prst="roundRect">
            <a:avLst>
              <a:gd name="adj" fmla="val 40000"/>
            </a:avLst>
          </a:prstGeom>
          <a:solidFill>
            <a:srgbClr val="FFFFFF">
              <a:alpha val="35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632704" y="2688336"/>
            <a:ext cx="164592" cy="45720"/>
          </a:xfrm>
          <a:prstGeom prst="roundRect">
            <a:avLst>
              <a:gd name="adj" fmla="val 40000"/>
            </a:avLst>
          </a:prstGeom>
          <a:solidFill>
            <a:srgbClr val="FFFFFF">
              <a:alpha val="35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961888" y="2688336"/>
            <a:ext cx="164592" cy="45720"/>
          </a:xfrm>
          <a:prstGeom prst="roundRect">
            <a:avLst>
              <a:gd name="adj" fmla="val 40000"/>
            </a:avLst>
          </a:prstGeom>
          <a:solidFill>
            <a:srgbClr val="FFFFFF">
              <a:alpha val="35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291072" y="2688336"/>
            <a:ext cx="164592" cy="45720"/>
          </a:xfrm>
          <a:prstGeom prst="roundRect">
            <a:avLst>
              <a:gd name="adj" fmla="val 40000"/>
            </a:avLst>
          </a:prstGeom>
          <a:solidFill>
            <a:srgbClr val="FFFFFF">
              <a:alpha val="35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620256" y="2688336"/>
            <a:ext cx="164592" cy="45720"/>
          </a:xfrm>
          <a:prstGeom prst="roundRect">
            <a:avLst>
              <a:gd name="adj" fmla="val 40000"/>
            </a:avLst>
          </a:prstGeom>
          <a:solidFill>
            <a:srgbClr val="FFFFFF">
              <a:alpha val="35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949440" y="3255264"/>
            <a:ext cx="146304" cy="45720"/>
          </a:xfrm>
          <a:prstGeom prst="roundRect">
            <a:avLst>
              <a:gd name="adj" fmla="val 40000"/>
            </a:avLst>
          </a:prstGeom>
          <a:solidFill>
            <a:srgbClr val="FFFFFF">
              <a:alpha val="35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242048" y="3255264"/>
            <a:ext cx="146304" cy="45720"/>
          </a:xfrm>
          <a:prstGeom prst="roundRect">
            <a:avLst>
              <a:gd name="adj" fmla="val 40000"/>
            </a:avLst>
          </a:prstGeom>
          <a:solidFill>
            <a:srgbClr val="FFFFFF">
              <a:alpha val="35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534656" y="3255264"/>
            <a:ext cx="146304" cy="45720"/>
          </a:xfrm>
          <a:prstGeom prst="roundRect">
            <a:avLst>
              <a:gd name="adj" fmla="val 40000"/>
            </a:avLst>
          </a:prstGeom>
          <a:solidFill>
            <a:srgbClr val="FFFFFF">
              <a:alpha val="35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7827264" y="3255264"/>
            <a:ext cx="146304" cy="45720"/>
          </a:xfrm>
          <a:prstGeom prst="roundRect">
            <a:avLst>
              <a:gd name="adj" fmla="val 40000"/>
            </a:avLst>
          </a:prstGeom>
          <a:solidFill>
            <a:srgbClr val="FFFFFF">
              <a:alpha val="35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8119872" y="3255264"/>
            <a:ext cx="146304" cy="45720"/>
          </a:xfrm>
          <a:prstGeom prst="roundRect">
            <a:avLst>
              <a:gd name="adj" fmla="val 40000"/>
            </a:avLst>
          </a:prstGeom>
          <a:solidFill>
            <a:srgbClr val="FFFFFF">
              <a:alpha val="35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566928" y="2487168"/>
            <a:ext cx="512064" cy="51206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66928" y="24871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MVP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822960" y="1874520"/>
            <a:ext cx="0" cy="612648"/>
          </a:xfrm>
          <a:prstGeom prst="line">
            <a:avLst/>
          </a:prstGeom>
          <a:noFill/>
          <a:ln w="19050">
            <a:solidFill>
              <a:srgbClr val="22C55E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73152" y="1005840"/>
            <a:ext cx="1508760" cy="868680"/>
          </a:xfrm>
          <a:prstGeom prst="roundRect">
            <a:avLst>
              <a:gd name="adj" fmla="val 10526"/>
            </a:avLst>
          </a:prstGeom>
          <a:solidFill>
            <a:srgbClr val="1B202B"/>
          </a:solidFill>
          <a:ln w="190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146304" y="10698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22C55E"/>
                </a:solidFill>
              </a:rPr>
              <a:t>Now ✅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146304" y="124358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EF0F3"/>
                </a:solidFill>
              </a:rPr>
              <a:t>Agentic Coaching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46304" y="144475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8B93A3"/>
                </a:solidFill>
              </a:rPr>
              <a:t>Multi-agent LangGraph · HITL approval · photo meal logging · personal RAG · condition-aware nutrition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2258568" y="3108960"/>
            <a:ext cx="512064" cy="51206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2258568" y="31089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01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514600" y="3621024"/>
            <a:ext cx="0" cy="310896"/>
          </a:xfrm>
          <a:prstGeom prst="line">
            <a:avLst/>
          </a:prstGeom>
          <a:noFill/>
          <a:ln w="19050">
            <a:solidFill>
              <a:srgbClr val="3B82F6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1764792" y="3931920"/>
            <a:ext cx="1508760" cy="868680"/>
          </a:xfrm>
          <a:prstGeom prst="roundRect">
            <a:avLst>
              <a:gd name="adj" fmla="val 10526"/>
            </a:avLst>
          </a:prstGeom>
          <a:solidFill>
            <a:srgbClr val="1B202B"/>
          </a:solidFill>
          <a:ln w="190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1837944" y="39959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3B82F6"/>
                </a:solidFill>
              </a:rPr>
              <a:t>3–6 months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1837944" y="416966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EF0F3"/>
                </a:solidFill>
              </a:rPr>
              <a:t>Connect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837944" y="437083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8B93A3"/>
                </a:solidFill>
              </a:rPr>
              <a:t>Real auth · Google Calendar OAuth (read + write) · Apple Health passive workout sync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3950208" y="2651760"/>
            <a:ext cx="512064" cy="512064"/>
          </a:xfrm>
          <a:prstGeom prst="ellipse">
            <a:avLst/>
          </a:prstGeom>
          <a:solidFill>
            <a:srgbClr val="C1694A"/>
          </a:solidFill>
          <a:ln w="12700">
            <a:solidFill>
              <a:srgbClr val="C16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3950208" y="26517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02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206240" y="1874520"/>
            <a:ext cx="0" cy="777240"/>
          </a:xfrm>
          <a:prstGeom prst="line">
            <a:avLst/>
          </a:prstGeom>
          <a:noFill/>
          <a:ln w="19050">
            <a:solidFill>
              <a:srgbClr val="C1694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3456432" y="1005840"/>
            <a:ext cx="1508760" cy="868680"/>
          </a:xfrm>
          <a:prstGeom prst="roundRect">
            <a:avLst>
              <a:gd name="adj" fmla="val 10526"/>
            </a:avLst>
          </a:prstGeom>
          <a:solidFill>
            <a:srgbClr val="1B202B"/>
          </a:solidFill>
          <a:ln w="19050">
            <a:solidFill>
              <a:srgbClr val="C16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3529584" y="10698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C1694A"/>
                </a:solidFill>
              </a:rPr>
              <a:t>6–12 months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3529584" y="124358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EF0F3"/>
                </a:solidFill>
              </a:rPr>
              <a:t>Reach Out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3529584" y="144475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8B93A3"/>
                </a:solidFill>
              </a:rPr>
              <a:t>SMS / WhatsApp nudges · Glucometer via Apple Health · Meal swapping + diet adherence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5641848" y="3035808"/>
            <a:ext cx="512064" cy="512064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5641848" y="30358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03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897880" y="3547872"/>
            <a:ext cx="0" cy="384048"/>
          </a:xfrm>
          <a:prstGeom prst="line">
            <a:avLst/>
          </a:prstGeom>
          <a:noFill/>
          <a:ln w="19050">
            <a:solidFill>
              <a:srgbClr val="A855F7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5148072" y="3931920"/>
            <a:ext cx="1508760" cy="868680"/>
          </a:xfrm>
          <a:prstGeom prst="roundRect">
            <a:avLst>
              <a:gd name="adj" fmla="val 10526"/>
            </a:avLst>
          </a:prstGeom>
          <a:solidFill>
            <a:srgbClr val="1B202B"/>
          </a:solidFill>
          <a:ln w="1905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5221224" y="39959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A855F7"/>
                </a:solidFill>
              </a:rPr>
              <a:t>12–18 months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5221224" y="416966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EF0F3"/>
                </a:solidFill>
              </a:rPr>
              <a:t>Go Deeper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5221224" y="437083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8B93A3"/>
                </a:solidFill>
              </a:rPr>
              <a:t>Physio live note stream · Voice meal logging · Accountability partner mode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7379208" y="2560320"/>
            <a:ext cx="512064" cy="51206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7379208" y="2560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04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7635240" y="1874520"/>
            <a:ext cx="0" cy="685800"/>
          </a:xfrm>
          <a:prstGeom prst="line">
            <a:avLst/>
          </a:prstGeom>
          <a:noFill/>
          <a:ln w="19050">
            <a:solidFill>
              <a:srgbClr val="F59E0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6885432" y="1005840"/>
            <a:ext cx="1508760" cy="868680"/>
          </a:xfrm>
          <a:prstGeom prst="roundRect">
            <a:avLst>
              <a:gd name="adj" fmla="val 10526"/>
            </a:avLst>
          </a:prstGeom>
          <a:solidFill>
            <a:srgbClr val="1B202B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6958584" y="10698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59E0B"/>
                </a:solidFill>
              </a:rPr>
              <a:t>18+ months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6958584" y="124358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EF0F3"/>
                </a:solidFill>
              </a:rPr>
              <a:t>Full Passive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6958584" y="144475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8B93A3"/>
                </a:solidFill>
              </a:rPr>
              <a:t>Sleep + HRV · Proactive coaching before you ask · B2B employer wellness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457200" y="4773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B93A3"/>
                </a:solidFill>
              </a:rPr>
              <a:t>Every phase brings SteadyFit closer to one goal: meet people where their attention and data already are.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5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1645920"/>
            <a:ext cx="3474720" cy="3474720"/>
          </a:xfrm>
          <a:prstGeom prst="ellipse">
            <a:avLst/>
          </a:prstGeom>
          <a:solidFill>
            <a:srgbClr val="C1694A">
              <a:alpha val="12000"/>
            </a:srgbClr>
          </a:solidFill>
          <a:ln w="12700">
            <a:solidFill>
              <a:srgbClr val="C1694A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C1694A"/>
                </a:solidFill>
              </a:rPr>
              <a:t>SteadyFit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6858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EEF0F3"/>
                </a:solidFill>
              </a:rPr>
              <a:t>A plan that bends</a:t>
            </a:r>
            <a:endParaRPr lang="en-US" sz="4600" dirty="0"/>
          </a:p>
          <a:p>
            <a:pPr marL="0" indent="0" algn="l">
              <a:buNone/>
            </a:pPr>
            <a:r>
              <a:rPr lang="en-US" sz="4600" b="1" dirty="0">
                <a:solidFill>
                  <a:srgbClr val="EEF0F3"/>
                </a:solidFill>
              </a:rPr>
              <a:t>when your week doesn't.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48640" y="278892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B93A3"/>
                </a:solidFill>
              </a:rPr>
              <a:t>Built on LangGraph · pgvector · FastAPI · Next.js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8B93A3"/>
                </a:solidFill>
              </a:rPr>
              <a:t>96+ test cases · RAGAS + LLM-as-judge · honest eval results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3520440"/>
            <a:ext cx="8046720" cy="502920"/>
          </a:xfrm>
          <a:prstGeom prst="roundRect">
            <a:avLst>
              <a:gd name="adj" fmla="val 21818"/>
            </a:avLst>
          </a:prstGeom>
          <a:solidFill>
            <a:srgbClr val="1B202B"/>
          </a:solidFill>
          <a:ln w="12700">
            <a:solidFill>
              <a:srgbClr val="262C3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356616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1694A"/>
                </a:solidFill>
              </a:rPr>
              <a:t>steadyfit.pro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017520" y="356616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3A3"/>
                </a:solidFill>
              </a:rPr>
              <a:t>·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91840" y="356616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B93A3"/>
                </a:solidFill>
              </a:rPr>
              <a:t>github.com/saurabhIU/SteadyFit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42062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EF0F3"/>
                </a:solidFill>
              </a:rPr>
              <a:t>Questions?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975</Words>
  <Application>Microsoft Macintosh PowerPoint</Application>
  <PresentationFormat>On-screen Show (16:9)</PresentationFormat>
  <Paragraphs>150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Richa Anand</cp:lastModifiedBy>
  <cp:revision>4</cp:revision>
  <dcterms:created xsi:type="dcterms:W3CDTF">2026-08-01T17:40:52Z</dcterms:created>
  <dcterms:modified xsi:type="dcterms:W3CDTF">2026-08-06T14:05:00Z</dcterms:modified>
</cp:coreProperties>
</file>